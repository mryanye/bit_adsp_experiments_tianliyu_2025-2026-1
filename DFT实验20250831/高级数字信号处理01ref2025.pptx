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5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1E557-9F2A-97E2-7438-97745A41F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3DFDCE-8594-2B5E-E20B-553D8A91A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E4C3B-D788-277F-1D9F-EB0F3F08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5C9DF-F3DB-510F-59FE-B30C4AE4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1A5B5-3CE3-2989-0C18-D2745132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44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AFB9F-B55C-C0BC-94A5-E8B6C353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12B440-8BB3-8C68-B9F4-B70E242BC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9218E-3071-AADB-E8DB-5C461720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4A8E48-95D1-817F-C7D4-49528CC1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A06A3-AF12-2776-FEDE-7033C4AB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51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ABA30-E757-2F93-B930-3DDFBB7C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BB07BB-221D-FF88-2F62-35C1CD51E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EFF0C-1289-3986-6A36-DE7703F5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9A993A-2E52-2D50-A533-0BEAFF3D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BDD40-7F22-12CF-CB56-2D3AF1FB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65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38561-1CAC-739C-A2B8-7098D81D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CD64B-6E01-4905-F1D0-B63322CC0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C7AA8-2A90-7830-5180-7444C0164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E4A679-88D7-4D00-49BE-7E5CC07F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75DDA1-E8AD-8EEA-E690-E0CF9E20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42B19C-5959-F7D5-DD8D-DD32A26C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22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78FEF-A894-BE1D-EF70-C2E7FB59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5BD28-0184-078F-176B-ED40AF21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29964F-A562-8FB9-F90E-04B730CF7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29362D-116B-B1C5-1764-275473EB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131EB7-6464-EEAE-C79C-ED61F0EC6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0F4C70-098C-4250-7AA2-A4B7E8F8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7BA0B1-C7D1-B99F-C63A-F9D86A73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A6C89F-FFCA-EF9A-D7F6-436B521E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24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39899-AB50-7BCD-A963-23782860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ACEA1C-9838-3553-2DBA-97F9AB9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C3EAD7-3802-4A25-F338-560E7C2B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68DD23-04F0-4F12-B87C-65DA1D36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26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D3C428-D3B8-8F18-88F6-B54F8322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9A17A7-DFB5-9699-500A-595E175D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39339D-21A7-1803-F936-AA1A1D60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58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72F13C-6CA3-F545-5860-5B3D3F1F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88A8AB-0635-13E1-DD2D-B95BBF04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E8122F-D8C1-D105-F436-9C96B12D2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E05E4D-55DB-E578-4E3C-AC0FB58B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89BA65-523E-7FC8-4491-84BABB47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2F77A-7CD3-8A25-A4F2-F208559D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297BC-8257-C390-F0A7-B933D8C6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58FE10-3885-7C43-26DE-F1C465512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884DC9-4579-064A-2A78-D362656F2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BAAD3-44E9-4929-277D-BB131CED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0FE24F-9817-E9CD-B7C4-9568B379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6CCE3D-3D13-86DE-F655-BA011BEB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8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327A7-48B8-6BFD-DCDE-73A07D67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ECD99C-8459-3CB8-293A-DA3B01D14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19767-3E17-565A-6D6F-6303B03A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F42DC-6FCD-091F-0296-9D992C2A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F7175-6379-3A06-CFAE-990C7C35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0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09A789-C279-8762-EA67-749EF3B6C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509693-8B10-16D8-3365-07DC91BCB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A2583-9C8A-BD09-7AB2-5199BA0E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FE06CC-9BF5-3DDF-E1E9-11EB6368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E8B4B-BC19-0D26-4825-CFE1EF83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4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545DAF-375F-0271-DAA7-D5AC3ACE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B438E8-75F4-2510-B371-57202ECE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76400-1AE2-369E-31DB-474E93DF6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AC02A-98AD-4B2A-9891-47A92D66FC6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36EDD-D936-9C71-E54D-1D3604CBE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A4668-03D5-7BB4-91BF-FF12CBC0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AC38E-C0C9-4498-8D57-400FBA90E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78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hyperlink" Target="https://baike.baidu.com/item/%E7%8B%AC%E7%AB%8B%E5%90%8C%E5%88%86%E5%B8%83/6715110?fromModule=lemma_inlink" TargetMode="External"/><Relationship Id="rId7" Type="http://schemas.openxmlformats.org/officeDocument/2006/relationships/hyperlink" Target="https://baike.baidu.com/item/%E9%92%9F%E5%BD%A2%E6%9B%B2%E7%BA%BF/7736826?fromModule=lemma_inlink" TargetMode="External"/><Relationship Id="rId2" Type="http://schemas.openxmlformats.org/officeDocument/2006/relationships/hyperlink" Target="https://baike.baidu.com/item/%E6%A6%82%E7%8E%87%E8%AE%BA/829122?fromModule=lemma_inlink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ike.baidu.com/item/%E6%AD%A3%E6%80%81%E5%88%86%E5%B8%83/829892?fromModule=lemma_inlink" TargetMode="External"/><Relationship Id="rId11" Type="http://schemas.openxmlformats.org/officeDocument/2006/relationships/image" Target="../media/image12.emf"/><Relationship Id="rId5" Type="http://schemas.openxmlformats.org/officeDocument/2006/relationships/hyperlink" Target="https://baike.baidu.com/item/%E5%9D%87%E5%80%BC/5922988?fromModule=lemma_inlink" TargetMode="External"/><Relationship Id="rId10" Type="http://schemas.openxmlformats.org/officeDocument/2006/relationships/image" Target="../media/image11.emf"/><Relationship Id="rId4" Type="http://schemas.openxmlformats.org/officeDocument/2006/relationships/hyperlink" Target="https://baike.baidu.com/item/%E9%9A%8F%E6%9C%BA%E5%8F%98%E9%87%8F/828980?fromModule=lemma_inlink" TargetMode="External"/><Relationship Id="rId9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1F9756F-558F-9D68-371C-8C097DD0F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339" y="2057400"/>
            <a:ext cx="663733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5B08E3C-2333-8FE0-846A-89157DF60327}"/>
              </a:ext>
            </a:extLst>
          </p:cNvPr>
          <p:cNvSpPr txBox="1">
            <a:spLocks noChangeArrowheads="1"/>
          </p:cNvSpPr>
          <p:nvPr/>
        </p:nvSpPr>
        <p:spPr>
          <a:xfrm>
            <a:off x="4102739" y="1828800"/>
            <a:ext cx="4495800" cy="841375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发射的相参脉冲串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3F65D-9A94-F2FC-EF2C-F31F216DC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539" y="152400"/>
            <a:ext cx="7010400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/>
              <a:t>相参：雷达发展史上重要的一步</a:t>
            </a:r>
          </a:p>
        </p:txBody>
      </p:sp>
    </p:spTree>
    <p:extLst>
      <p:ext uri="{BB962C8B-B14F-4D97-AF65-F5344CB8AC3E}">
        <p14:creationId xmlns:p14="http://schemas.microsoft.com/office/powerpoint/2010/main" val="225805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276EE89-9ABB-B10E-9233-31980AC557A5}"/>
              </a:ext>
            </a:extLst>
          </p:cNvPr>
          <p:cNvSpPr txBox="1">
            <a:spLocks noChangeArrowheads="1"/>
          </p:cNvSpPr>
          <p:nvPr/>
        </p:nvSpPr>
        <p:spPr>
          <a:xfrm>
            <a:off x="2110572" y="240708"/>
            <a:ext cx="7010400" cy="1359491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接收的相参脉冲串</a:t>
            </a:r>
            <a:br>
              <a:rPr lang="en-US" altLang="zh-CN" dirty="0"/>
            </a:br>
            <a:r>
              <a:rPr lang="zh-CN" altLang="en-US" sz="3200" dirty="0"/>
              <a:t>一举两得：提高</a:t>
            </a:r>
            <a:r>
              <a:rPr lang="en-US" altLang="zh-CN" sz="3200" dirty="0"/>
              <a:t>SNR</a:t>
            </a:r>
            <a:r>
              <a:rPr lang="zh-CN" altLang="en-US" sz="3200" dirty="0"/>
              <a:t>和测速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8FE72-C2A0-4F63-EE24-C8A02EE50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172" y="1692867"/>
            <a:ext cx="60960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对象 1">
            <a:extLst>
              <a:ext uri="{FF2B5EF4-FFF2-40B4-BE49-F238E27FC236}">
                <a16:creationId xmlns:a16="http://schemas.microsoft.com/office/drawing/2014/main" id="{F9291EB5-AD8F-0339-EC81-165EDA42D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594517"/>
              </p:ext>
            </p:extLst>
          </p:nvPr>
        </p:nvGraphicFramePr>
        <p:xfrm>
          <a:off x="7654643" y="920453"/>
          <a:ext cx="1466329" cy="893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113" imgH="393529" progId="Equation.DSMT4">
                  <p:embed/>
                </p:oleObj>
              </mc:Choice>
              <mc:Fallback>
                <p:oleObj name="Equation" r:id="rId3" imgW="660113" imgH="393529" progId="Equation.DSMT4">
                  <p:embed/>
                  <p:pic>
                    <p:nvPicPr>
                      <p:cNvPr id="4" name="对象 1">
                        <a:extLst>
                          <a:ext uri="{FF2B5EF4-FFF2-40B4-BE49-F238E27FC236}">
                            <a16:creationId xmlns:a16="http://schemas.microsoft.com/office/drawing/2014/main" id="{AEF24687-8DFB-A8C9-AEE3-BE4F99FA1C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643" y="920453"/>
                        <a:ext cx="1466329" cy="893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294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B72685-564C-8987-DCC4-004EA4CD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0"/>
            <a:ext cx="9122620" cy="1638300"/>
          </a:xfrm>
        </p:spPr>
        <p:txBody>
          <a:bodyPr/>
          <a:lstStyle/>
          <a:p>
            <a:r>
              <a:rPr lang="zh-CN" alt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雷达截面积</a:t>
            </a:r>
            <a:r>
              <a:rPr lang="zh-CN" altLang="en-US" sz="3200" dirty="0">
                <a:solidFill>
                  <a:srgbClr val="333333"/>
                </a:solidFill>
                <a:latin typeface="Arial" panose="020B0604020202020204" pitchFamily="34" charset="0"/>
              </a:rPr>
              <a:t>的概念</a:t>
            </a:r>
            <a:br>
              <a:rPr lang="en-US" altLang="zh-CN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32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Radar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cross-section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32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RCS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--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起伏</a:t>
            </a:r>
            <a:r>
              <a:rPr lang="en-US" altLang="zh-CN" sz="3200" dirty="0">
                <a:solidFill>
                  <a:srgbClr val="33333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3200" dirty="0">
                <a:solidFill>
                  <a:srgbClr val="333333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随机信号</a:t>
            </a:r>
            <a:endParaRPr lang="zh-CN" altLang="en-US" sz="3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9D4EC-90E8-7EAF-D905-DD624B266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38299"/>
            <a:ext cx="7772400" cy="489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E15530-0FBC-2615-3D7D-360E23E0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285" y="2136425"/>
            <a:ext cx="8382000" cy="46721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DAF4BAD-D5BC-3545-0125-692B60437329}"/>
              </a:ext>
            </a:extLst>
          </p:cNvPr>
          <p:cNvSpPr txBox="1"/>
          <p:nvPr/>
        </p:nvSpPr>
        <p:spPr>
          <a:xfrm>
            <a:off x="3436672" y="49386"/>
            <a:ext cx="71308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4400" dirty="0">
                <a:solidFill>
                  <a:srgbClr val="000000"/>
                </a:solidFill>
                <a:latin typeface="+mj-lt"/>
                <a:ea typeface="黑体" pitchFamily="2" charset="-122"/>
              </a:rPr>
              <a:t>雷达回波的例子：处理前后</a:t>
            </a:r>
            <a:endParaRPr lang="en-US" altLang="zh-CN" sz="4400" dirty="0">
              <a:solidFill>
                <a:srgbClr val="000000"/>
              </a:solidFill>
              <a:latin typeface="+mj-lt"/>
              <a:ea typeface="黑体" pitchFamily="2" charset="-122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36B461F-CDBB-C2D9-E00C-5FE9C00B8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90" y="3850896"/>
            <a:ext cx="2513725" cy="256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7D7B8AE-A840-9224-CCCA-11BDD9F15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72" y="704204"/>
            <a:ext cx="3545924" cy="2864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6C67EE-1F82-451E-05E5-D351D050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372"/>
            <a:ext cx="12192000" cy="491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2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27903B5-2041-1A42-31FA-D7185BC31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839" y="95251"/>
            <a:ext cx="70104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/>
              <a:t>MATLAB</a:t>
            </a:r>
            <a:r>
              <a:rPr lang="zh-CN" altLang="en-US" sz="3600" dirty="0"/>
              <a:t>均匀分布的噪声生成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4119B72-CD3C-8076-5F26-B0E105665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4" y="1590673"/>
            <a:ext cx="10915012" cy="183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/>
              <a:t>均匀分布白噪声：</a:t>
            </a:r>
            <a:endParaRPr lang="en-US" altLang="zh-CN" sz="3600" dirty="0"/>
          </a:p>
          <a:p>
            <a:r>
              <a:rPr lang="en-US" altLang="zh-CN" dirty="0"/>
              <a:t>x = rand(1, N);%N=8*10^6</a:t>
            </a:r>
          </a:p>
          <a:p>
            <a:r>
              <a:rPr lang="en-US" altLang="zh-CN" dirty="0"/>
              <a:t>hist(x, 300);</a:t>
            </a:r>
          </a:p>
          <a:p>
            <a:endParaRPr lang="en-US" altLang="zh-CN" dirty="0"/>
          </a:p>
          <a:p>
            <a:endParaRPr lang="zh-CN" altLang="en-US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918A7F-AC7A-6C07-6749-7D4EF806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0" y="26098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1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BF8247B-2451-17E5-A896-465CAA30A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39" y="190501"/>
            <a:ext cx="3491861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/>
              <a:t>中心极限定理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85B804-0357-84CB-A3CE-631325978B45}"/>
              </a:ext>
            </a:extLst>
          </p:cNvPr>
          <p:cNvSpPr txBox="1"/>
          <p:nvPr/>
        </p:nvSpPr>
        <p:spPr>
          <a:xfrm>
            <a:off x="1016000" y="1022351"/>
            <a:ext cx="98679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中心极限定理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2800" b="0" i="0" dirty="0" err="1">
                <a:solidFill>
                  <a:srgbClr val="333333"/>
                </a:solidFill>
                <a:effectLst/>
                <a:latin typeface="Helvetica Neue"/>
              </a:rPr>
              <a:t>CentralLimit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Helvetica Neue"/>
              </a:rPr>
              <a:t> Theorem, CLT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）是</a:t>
            </a:r>
            <a:r>
              <a:rPr lang="zh-CN" altLang="en-US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2"/>
              </a:rPr>
              <a:t>概率论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的核心定理之一，其核心是描述</a:t>
            </a:r>
            <a:r>
              <a:rPr lang="zh-CN" altLang="en-US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独立同分布</a:t>
            </a:r>
            <a:r>
              <a:rPr lang="zh-CN" altLang="en-US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4"/>
              </a:rPr>
              <a:t>随机变量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（即来源相同、互不影响的样本）的</a:t>
            </a:r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均值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或总和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的分布规律：当样本数量足够大时，无论单个随机变量本身服从什么分布，这些变量的均值会近似服从</a:t>
            </a:r>
            <a:r>
              <a:rPr lang="zh-CN" altLang="en-US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正态分布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（即 “</a:t>
            </a:r>
            <a:r>
              <a:rPr lang="zh-CN" altLang="en-US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钟形曲线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” 分布）。</a:t>
            </a:r>
            <a:endParaRPr lang="en-US" altLang="zh-CN" sz="28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sz="2800" dirty="0">
                <a:solidFill>
                  <a:srgbClr val="333333"/>
                </a:solidFill>
                <a:latin typeface="Helvetica Neue"/>
              </a:rPr>
              <a:t>【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</a:rPr>
              <a:t>例</a:t>
            </a:r>
            <a:r>
              <a:rPr lang="en-US" altLang="zh-CN" sz="2800" dirty="0">
                <a:solidFill>
                  <a:srgbClr val="333333"/>
                </a:solidFill>
                <a:latin typeface="Helvetica Neue"/>
              </a:rPr>
              <a:t>】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</a:rPr>
              <a:t>均匀分布的随机变量和：</a:t>
            </a:r>
            <a:r>
              <a:rPr lang="en-US" altLang="zh-CN" sz="2800" dirty="0">
                <a:solidFill>
                  <a:srgbClr val="333333"/>
                </a:solidFill>
                <a:latin typeface="Helvetica Neue"/>
              </a:rPr>
              <a:t>M=2,3,4,8</a:t>
            </a: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24A90A-CEBA-A7D0-44B4-645FBDF29F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9849" y="3867150"/>
            <a:ext cx="3344334" cy="25082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C4F25E-D7A6-6D9E-DBA0-ADA0B9015C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9436" y="3867150"/>
            <a:ext cx="3344333" cy="25082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B66E71-E1C9-C6EE-FD3E-C10CC5EBB1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3719" y="3867150"/>
            <a:ext cx="3570208" cy="26776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36CA3A7-9C9F-444E-245D-B2942BC8F1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7182" y="3920016"/>
            <a:ext cx="3499719" cy="262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7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151</Words>
  <Application>Microsoft Office PowerPoint</Application>
  <PresentationFormat>宽屏</PresentationFormat>
  <Paragraphs>12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Helvetica Neue</vt:lpstr>
      <vt:lpstr>等线</vt:lpstr>
      <vt:lpstr>等线 Light</vt:lpstr>
      <vt:lpstr>Arial</vt:lpstr>
      <vt:lpstr>Office 主题​​</vt:lpstr>
      <vt:lpstr>Equation</vt:lpstr>
      <vt:lpstr>PowerPoint 演示文稿</vt:lpstr>
      <vt:lpstr>PowerPoint 演示文稿</vt:lpstr>
      <vt:lpstr>雷达截面积的概念 （Radar cross-section，RCS）--起伏随机信号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 Tian</dc:creator>
  <cp:lastModifiedBy>LY Tian</cp:lastModifiedBy>
  <cp:revision>5</cp:revision>
  <dcterms:created xsi:type="dcterms:W3CDTF">2024-08-20T09:32:31Z</dcterms:created>
  <dcterms:modified xsi:type="dcterms:W3CDTF">2025-09-08T01:01:18Z</dcterms:modified>
</cp:coreProperties>
</file>